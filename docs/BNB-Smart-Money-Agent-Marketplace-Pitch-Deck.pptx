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3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080A0F"/>
          </a:solidFill>
          <a:ln w="12700">
            <a:solidFill>
              <a:srgbClr val="080A0F"/>
            </a:solidFill>
          </a:ln>
        </p:spPr>
      </p:sp>
      <p:sp>
        <p:nvSpPr>
          <p:cNvPr id="3" name="Card 3"/>
          <p:cNvSpPr/>
          <p:nvPr/>
        </p:nvSpPr>
        <p:spPr>
          <a:xfrm>
            <a:off x="620000" y="560000"/>
            <a:ext cx="1180000" cy="36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720000" y="630000"/>
            <a:ext cx="1600000" cy="2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500" b="1">
                <a:solidFill>
                  <a:srgbClr val="080A0F"/>
                </a:solidFill>
              </a:rPr>
              <a:t>01</a:t>
            </a:r>
          </a:p>
        </a:txBody>
      </p:sp>
      <p:sp>
        <p:nvSpPr>
          <p:cNvPr id="5" name="Text 5"/>
          <p:cNvSpPr txBox="1"/>
          <p:nvPr/>
        </p:nvSpPr>
        <p:spPr>
          <a:xfrm>
            <a:off x="620000" y="1050000"/>
            <a:ext cx="8300000" cy="100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3900" b="1">
                <a:solidFill>
                  <a:srgbClr val="FFFFFF"/>
                </a:solidFill>
              </a:rPr>
              <a:t>BNB Smart Money Agent Marketplace</a:t>
            </a:r>
          </a:p>
        </a:txBody>
      </p:sp>
      <p:sp>
        <p:nvSpPr>
          <p:cNvPr id="6" name="Text 6"/>
          <p:cNvSpPr txBox="1"/>
          <p:nvPr/>
        </p:nvSpPr>
        <p:spPr>
          <a:xfrm>
            <a:off x="620000" y="1920000"/>
            <a:ext cx="9000000" cy="45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800">
                <a:solidFill>
                  <a:srgbClr val="FDE047"/>
                </a:solidFill>
              </a:rPr>
              <a:t>Make Smart Money agents usable and trustworthy.</a:t>
            </a:r>
          </a:p>
        </a:txBody>
      </p:sp>
      <p:sp>
        <p:nvSpPr>
          <p:cNvPr id="7" name="Card 7"/>
          <p:cNvSpPr/>
          <p:nvPr/>
        </p:nvSpPr>
        <p:spPr>
          <a:xfrm>
            <a:off x="690000" y="279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930000" y="270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Discover, compare, hire, monitor, and revoke BNB Chain financial AI agents safely.</a:t>
            </a:r>
          </a:p>
        </a:txBody>
      </p:sp>
      <p:sp>
        <p:nvSpPr>
          <p:cNvPr id="9" name="Card 9"/>
          <p:cNvSpPr/>
          <p:nvPr/>
        </p:nvSpPr>
        <p:spPr>
          <a:xfrm>
            <a:off x="690000" y="331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930000" y="322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Live demo: bnb-smart-money-agent-marketplace.vercel.app</a:t>
            </a:r>
          </a:p>
        </a:txBody>
      </p:sp>
      <p:sp>
        <p:nvSpPr>
          <p:cNvPr id="11" name="Text 11"/>
          <p:cNvSpPr txBox="1"/>
          <p:nvPr/>
        </p:nvSpPr>
        <p:spPr>
          <a:xfrm>
            <a:off x="620000" y="6300000"/>
            <a:ext cx="8500000" cy="24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050">
                <a:solidFill>
                  <a:srgbClr val="71717A"/>
                </a:solidFill>
              </a:rPr>
              <a:t>BNB Smart Money Agent Marketplace · Chuqi Labs</a:t>
            </a:r>
          </a:p>
        </a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080A0F"/>
          </a:solidFill>
          <a:ln w="12700">
            <a:solidFill>
              <a:srgbClr val="080A0F"/>
            </a:solidFill>
          </a:ln>
        </p:spPr>
      </p:sp>
      <p:sp>
        <p:nvSpPr>
          <p:cNvPr id="3" name="Card 3"/>
          <p:cNvSpPr/>
          <p:nvPr/>
        </p:nvSpPr>
        <p:spPr>
          <a:xfrm>
            <a:off x="620000" y="560000"/>
            <a:ext cx="1180000" cy="36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720000" y="630000"/>
            <a:ext cx="1600000" cy="2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500" b="1">
                <a:solidFill>
                  <a:srgbClr val="080A0F"/>
                </a:solidFill>
              </a:rPr>
              <a:t>02</a:t>
            </a:r>
          </a:p>
        </a:txBody>
      </p:sp>
      <p:sp>
        <p:nvSpPr>
          <p:cNvPr id="5" name="Text 5"/>
          <p:cNvSpPr txBox="1"/>
          <p:nvPr/>
        </p:nvSpPr>
        <p:spPr>
          <a:xfrm>
            <a:off x="620000" y="1050000"/>
            <a:ext cx="8300000" cy="100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3900" b="1">
                <a:solidFill>
                  <a:srgbClr val="FFFFFF"/>
                </a:solidFill>
              </a:rPr>
              <a:t>Problem</a:t>
            </a:r>
          </a:p>
        </a:txBody>
      </p:sp>
      <p:sp>
        <p:nvSpPr>
          <p:cNvPr id="6" name="Text 6"/>
          <p:cNvSpPr txBox="1"/>
          <p:nvPr/>
        </p:nvSpPr>
        <p:spPr>
          <a:xfrm>
            <a:off x="620000" y="1920000"/>
            <a:ext cx="9000000" cy="45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800">
                <a:solidFill>
                  <a:srgbClr val="FDE047"/>
                </a:solidFill>
              </a:rPr>
              <a:t>Trust and comparability are the missing marketplace layer.</a:t>
            </a:r>
          </a:p>
        </a:txBody>
      </p:sp>
      <p:sp>
        <p:nvSpPr>
          <p:cNvPr id="7" name="Card 7"/>
          <p:cNvSpPr/>
          <p:nvPr/>
        </p:nvSpPr>
        <p:spPr>
          <a:xfrm>
            <a:off x="690000" y="279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930000" y="270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Financial AI agents are fragmented across bots, docs, explorers, and dashboards.</a:t>
            </a:r>
          </a:p>
        </a:txBody>
      </p:sp>
      <p:sp>
        <p:nvSpPr>
          <p:cNvPr id="9" name="Card 9"/>
          <p:cNvSpPr/>
          <p:nvPr/>
        </p:nvSpPr>
        <p:spPr>
          <a:xfrm>
            <a:off x="690000" y="331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930000" y="322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Users cannot easily judge safety, permissions, cost, performance, or revoke paths.</a:t>
            </a:r>
          </a:p>
        </a:txBody>
      </p:sp>
      <p:sp>
        <p:nvSpPr>
          <p:cNvPr id="11" name="Card 11"/>
          <p:cNvSpPr/>
          <p:nvPr/>
        </p:nvSpPr>
        <p:spPr>
          <a:xfrm>
            <a:off x="690000" y="383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930000" y="374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This slows adoption for useful BNB Chain agent workflows.</a:t>
            </a:r>
          </a:p>
        </a:txBody>
      </p:sp>
      <p:sp>
        <p:nvSpPr>
          <p:cNvPr id="13" name="Text 13"/>
          <p:cNvSpPr txBox="1"/>
          <p:nvPr/>
        </p:nvSpPr>
        <p:spPr>
          <a:xfrm>
            <a:off x="620000" y="6300000"/>
            <a:ext cx="8500000" cy="24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050">
                <a:solidFill>
                  <a:srgbClr val="71717A"/>
                </a:solidFill>
              </a:rPr>
              <a:t>BNB Smart Money Agent Marketplace · Chuqi Labs</a:t>
            </a:r>
          </a:p>
        </a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080A0F"/>
          </a:solidFill>
          <a:ln w="12700">
            <a:solidFill>
              <a:srgbClr val="080A0F"/>
            </a:solidFill>
          </a:ln>
        </p:spPr>
      </p:sp>
      <p:sp>
        <p:nvSpPr>
          <p:cNvPr id="3" name="Card 3"/>
          <p:cNvSpPr/>
          <p:nvPr/>
        </p:nvSpPr>
        <p:spPr>
          <a:xfrm>
            <a:off x="620000" y="560000"/>
            <a:ext cx="1180000" cy="36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720000" y="630000"/>
            <a:ext cx="1600000" cy="2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500" b="1">
                <a:solidFill>
                  <a:srgbClr val="080A0F"/>
                </a:solidFill>
              </a:rPr>
              <a:t>03</a:t>
            </a:r>
          </a:p>
        </a:txBody>
      </p:sp>
      <p:sp>
        <p:nvSpPr>
          <p:cNvPr id="5" name="Text 5"/>
          <p:cNvSpPr txBox="1"/>
          <p:nvPr/>
        </p:nvSpPr>
        <p:spPr>
          <a:xfrm>
            <a:off x="620000" y="1050000"/>
            <a:ext cx="8300000" cy="100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3900" b="1">
                <a:solidFill>
                  <a:srgbClr val="FFFFFF"/>
                </a:solidFill>
              </a:rPr>
              <a:t>Solution</a:t>
            </a:r>
          </a:p>
        </a:txBody>
      </p:sp>
      <p:sp>
        <p:nvSpPr>
          <p:cNvPr id="6" name="Text 6"/>
          <p:cNvSpPr txBox="1"/>
          <p:nvPr/>
        </p:nvSpPr>
        <p:spPr>
          <a:xfrm>
            <a:off x="620000" y="1920000"/>
            <a:ext cx="9000000" cy="45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800">
                <a:solidFill>
                  <a:srgbClr val="FDE047"/>
                </a:solidFill>
              </a:rPr>
              <a:t>Discover → Compare → Hire → Monitor → Revoke</a:t>
            </a:r>
          </a:p>
        </a:txBody>
      </p:sp>
      <p:sp>
        <p:nvSpPr>
          <p:cNvPr id="7" name="Card 7"/>
          <p:cNvSpPr/>
          <p:nvPr/>
        </p:nvSpPr>
        <p:spPr>
          <a:xfrm>
            <a:off x="690000" y="279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930000" y="270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A marketplace layer that turns agents into comparable financial products.</a:t>
            </a:r>
          </a:p>
        </a:txBody>
      </p:sp>
      <p:sp>
        <p:nvSpPr>
          <p:cNvPr id="9" name="Card 9"/>
          <p:cNvSpPr/>
          <p:nvPr/>
        </p:nvSpPr>
        <p:spPr>
          <a:xfrm>
            <a:off x="690000" y="331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930000" y="322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Users discover by category, compare risk/cost/protocol coverage, inspect profiles, hire with scoped permissions, and monitor sessions.</a:t>
            </a:r>
          </a:p>
        </a:txBody>
      </p:sp>
      <p:sp>
        <p:nvSpPr>
          <p:cNvPr id="11" name="Text 11"/>
          <p:cNvSpPr txBox="1"/>
          <p:nvPr/>
        </p:nvSpPr>
        <p:spPr>
          <a:xfrm>
            <a:off x="620000" y="6300000"/>
            <a:ext cx="8500000" cy="24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050">
                <a:solidFill>
                  <a:srgbClr val="71717A"/>
                </a:solidFill>
              </a:rPr>
              <a:t>BNB Smart Money Agent Marketplace · Chuqi Labs</a:t>
            </a:r>
          </a:p>
        </a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080A0F"/>
          </a:solidFill>
          <a:ln w="12700">
            <a:solidFill>
              <a:srgbClr val="080A0F"/>
            </a:solidFill>
          </a:ln>
        </p:spPr>
      </p:sp>
      <p:sp>
        <p:nvSpPr>
          <p:cNvPr id="3" name="Card 3"/>
          <p:cNvSpPr/>
          <p:nvPr/>
        </p:nvSpPr>
        <p:spPr>
          <a:xfrm>
            <a:off x="620000" y="560000"/>
            <a:ext cx="1180000" cy="36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720000" y="630000"/>
            <a:ext cx="1600000" cy="2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500" b="1">
                <a:solidFill>
                  <a:srgbClr val="080A0F"/>
                </a:solidFill>
              </a:rPr>
              <a:t>04</a:t>
            </a:r>
          </a:p>
        </a:txBody>
      </p:sp>
      <p:sp>
        <p:nvSpPr>
          <p:cNvPr id="5" name="Text 5"/>
          <p:cNvSpPr txBox="1"/>
          <p:nvPr/>
        </p:nvSpPr>
        <p:spPr>
          <a:xfrm>
            <a:off x="620000" y="1050000"/>
            <a:ext cx="8300000" cy="100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3900" b="1">
                <a:solidFill>
                  <a:srgbClr val="FFFFFF"/>
                </a:solidFill>
              </a:rPr>
              <a:t>Product Flow</a:t>
            </a:r>
          </a:p>
        </a:txBody>
      </p:sp>
      <p:sp>
        <p:nvSpPr>
          <p:cNvPr id="6" name="Text 6"/>
          <p:cNvSpPr txBox="1"/>
          <p:nvPr/>
        </p:nvSpPr>
        <p:spPr>
          <a:xfrm>
            <a:off x="620000" y="1920000"/>
            <a:ext cx="9000000" cy="45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800">
                <a:solidFill>
                  <a:srgbClr val="FDE047"/>
                </a:solidFill>
              </a:rPr>
              <a:t>A complete product loop, not a static landing page.</a:t>
            </a:r>
          </a:p>
        </a:txBody>
      </p:sp>
      <p:sp>
        <p:nvSpPr>
          <p:cNvPr id="7" name="Card 7"/>
          <p:cNvSpPr/>
          <p:nvPr/>
        </p:nvSpPr>
        <p:spPr>
          <a:xfrm>
            <a:off x="690000" y="279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930000" y="270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Marketplace homepage</a:t>
            </a:r>
          </a:p>
        </a:txBody>
      </p:sp>
      <p:sp>
        <p:nvSpPr>
          <p:cNvPr id="9" name="Card 9"/>
          <p:cNvSpPr/>
          <p:nvPr/>
        </p:nvSpPr>
        <p:spPr>
          <a:xfrm>
            <a:off x="690000" y="331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930000" y="322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Compare agents</a:t>
            </a:r>
          </a:p>
        </a:txBody>
      </p:sp>
      <p:sp>
        <p:nvSpPr>
          <p:cNvPr id="11" name="Card 11"/>
          <p:cNvSpPr/>
          <p:nvPr/>
        </p:nvSpPr>
        <p:spPr>
          <a:xfrm>
            <a:off x="690000" y="383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930000" y="374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Agent profile</a:t>
            </a:r>
          </a:p>
        </a:txBody>
      </p:sp>
      <p:sp>
        <p:nvSpPr>
          <p:cNvPr id="13" name="Card 13"/>
          <p:cNvSpPr/>
          <p:nvPr/>
        </p:nvSpPr>
        <p:spPr>
          <a:xfrm>
            <a:off x="690000" y="435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930000" y="426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Safe hire flow</a:t>
            </a:r>
          </a:p>
        </a:txBody>
      </p:sp>
      <p:sp>
        <p:nvSpPr>
          <p:cNvPr id="15" name="Card 15"/>
          <p:cNvSpPr/>
          <p:nvPr/>
        </p:nvSpPr>
        <p:spPr>
          <a:xfrm>
            <a:off x="690000" y="487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930000" y="478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My agents dashboard</a:t>
            </a:r>
          </a:p>
        </a:txBody>
      </p:sp>
      <p:sp>
        <p:nvSpPr>
          <p:cNvPr id="17" name="Card 17"/>
          <p:cNvSpPr/>
          <p:nvPr/>
        </p:nvSpPr>
        <p:spPr>
          <a:xfrm>
            <a:off x="690000" y="539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930000" y="530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Advantage report</a:t>
            </a:r>
          </a:p>
        </a:txBody>
      </p:sp>
      <p:sp>
        <p:nvSpPr>
          <p:cNvPr id="19" name="Card 19"/>
          <p:cNvSpPr/>
          <p:nvPr/>
        </p:nvSpPr>
        <p:spPr>
          <a:xfrm>
            <a:off x="690000" y="591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930000" y="582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Proof Center</a:t>
            </a:r>
          </a:p>
        </a:txBody>
      </p:sp>
      <p:sp>
        <p:nvSpPr>
          <p:cNvPr id="21" name="Text 21"/>
          <p:cNvSpPr txBox="1"/>
          <p:nvPr/>
        </p:nvSpPr>
        <p:spPr>
          <a:xfrm>
            <a:off x="620000" y="6300000"/>
            <a:ext cx="8500000" cy="24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050">
                <a:solidFill>
                  <a:srgbClr val="71717A"/>
                </a:solidFill>
              </a:rPr>
              <a:t>BNB Smart Money Agent Marketplace · Chuqi Labs</a:t>
            </a:r>
          </a:p>
        </a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080A0F"/>
          </a:solidFill>
          <a:ln w="12700">
            <a:solidFill>
              <a:srgbClr val="080A0F"/>
            </a:solidFill>
          </a:ln>
        </p:spPr>
      </p:sp>
      <p:sp>
        <p:nvSpPr>
          <p:cNvPr id="3" name="Card 3"/>
          <p:cNvSpPr/>
          <p:nvPr/>
        </p:nvSpPr>
        <p:spPr>
          <a:xfrm>
            <a:off x="620000" y="560000"/>
            <a:ext cx="1180000" cy="36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720000" y="630000"/>
            <a:ext cx="1600000" cy="2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500" b="1">
                <a:solidFill>
                  <a:srgbClr val="080A0F"/>
                </a:solidFill>
              </a:rPr>
              <a:t>05</a:t>
            </a:r>
          </a:p>
        </a:txBody>
      </p:sp>
      <p:sp>
        <p:nvSpPr>
          <p:cNvPr id="5" name="Text 5"/>
          <p:cNvSpPr txBox="1"/>
          <p:nvPr/>
        </p:nvSpPr>
        <p:spPr>
          <a:xfrm>
            <a:off x="620000" y="1050000"/>
            <a:ext cx="8300000" cy="100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3900" b="1">
                <a:solidFill>
                  <a:srgbClr val="FFFFFF"/>
                </a:solidFill>
              </a:rPr>
              <a:t>Four Smart Money Categories</a:t>
            </a:r>
          </a:p>
        </a:txBody>
      </p:sp>
      <p:sp>
        <p:nvSpPr>
          <p:cNvPr id="6" name="Text 6"/>
          <p:cNvSpPr txBox="1"/>
          <p:nvPr/>
        </p:nvSpPr>
        <p:spPr>
          <a:xfrm>
            <a:off x="620000" y="1920000"/>
            <a:ext cx="9000000" cy="45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800">
                <a:solidFill>
                  <a:srgbClr val="FDE047"/>
                </a:solidFill>
              </a:rPr>
              <a:t>Four equally deep categories for judge review.</a:t>
            </a:r>
          </a:p>
        </a:txBody>
      </p:sp>
      <p:sp>
        <p:nvSpPr>
          <p:cNvPr id="7" name="Card 7"/>
          <p:cNvSpPr/>
          <p:nvPr/>
        </p:nvSpPr>
        <p:spPr>
          <a:xfrm>
            <a:off x="690000" y="279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930000" y="270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Grid Trading — cost-aware BNB pair execution</a:t>
            </a:r>
          </a:p>
        </a:txBody>
      </p:sp>
      <p:sp>
        <p:nvSpPr>
          <p:cNvPr id="9" name="Card 9"/>
          <p:cNvSpPr/>
          <p:nvPr/>
        </p:nvSpPr>
        <p:spPr>
          <a:xfrm>
            <a:off x="690000" y="331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930000" y="322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LP Rebalancing — PancakeSwap range monitoring</a:t>
            </a:r>
          </a:p>
        </a:txBody>
      </p:sp>
      <p:sp>
        <p:nvSpPr>
          <p:cNvPr id="11" name="Card 11"/>
          <p:cNvSpPr/>
          <p:nvPr/>
        </p:nvSpPr>
        <p:spPr>
          <a:xfrm>
            <a:off x="690000" y="383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930000" y="374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Yield Optimization — risk-adjusted routing</a:t>
            </a:r>
          </a:p>
        </a:txBody>
      </p:sp>
      <p:sp>
        <p:nvSpPr>
          <p:cNvPr id="13" name="Card 13"/>
          <p:cNvSpPr/>
          <p:nvPr/>
        </p:nvSpPr>
        <p:spPr>
          <a:xfrm>
            <a:off x="690000" y="435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930000" y="426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Health Factor Monitoring — liquidation protection</a:t>
            </a:r>
          </a:p>
        </a:txBody>
      </p:sp>
      <p:sp>
        <p:nvSpPr>
          <p:cNvPr id="15" name="Text 15"/>
          <p:cNvSpPr txBox="1"/>
          <p:nvPr/>
        </p:nvSpPr>
        <p:spPr>
          <a:xfrm>
            <a:off x="620000" y="6300000"/>
            <a:ext cx="8500000" cy="24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050">
                <a:solidFill>
                  <a:srgbClr val="71717A"/>
                </a:solidFill>
              </a:rPr>
              <a:t>BNB Smart Money Agent Marketplace · Chuqi Labs</a:t>
            </a:r>
          </a:p>
        </a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080A0F"/>
          </a:solidFill>
          <a:ln w="12700">
            <a:solidFill>
              <a:srgbClr val="080A0F"/>
            </a:solidFill>
          </a:ln>
        </p:spPr>
      </p:sp>
      <p:sp>
        <p:nvSpPr>
          <p:cNvPr id="3" name="Card 3"/>
          <p:cNvSpPr/>
          <p:nvPr/>
        </p:nvSpPr>
        <p:spPr>
          <a:xfrm>
            <a:off x="620000" y="560000"/>
            <a:ext cx="1180000" cy="36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720000" y="630000"/>
            <a:ext cx="1600000" cy="2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500" b="1">
                <a:solidFill>
                  <a:srgbClr val="080A0F"/>
                </a:solidFill>
              </a:rPr>
              <a:t>06</a:t>
            </a:r>
          </a:p>
        </a:txBody>
      </p:sp>
      <p:sp>
        <p:nvSpPr>
          <p:cNvPr id="5" name="Text 5"/>
          <p:cNvSpPr txBox="1"/>
          <p:nvPr/>
        </p:nvSpPr>
        <p:spPr>
          <a:xfrm>
            <a:off x="620000" y="1050000"/>
            <a:ext cx="8300000" cy="100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3900" b="1">
                <a:solidFill>
                  <a:srgbClr val="FFFFFF"/>
                </a:solidFill>
              </a:rPr>
              <a:t>Safety / Permission Layer</a:t>
            </a:r>
          </a:p>
        </a:txBody>
      </p:sp>
      <p:sp>
        <p:nvSpPr>
          <p:cNvPr id="6" name="Text 6"/>
          <p:cNvSpPr txBox="1"/>
          <p:nvPr/>
        </p:nvSpPr>
        <p:spPr>
          <a:xfrm>
            <a:off x="620000" y="1920000"/>
            <a:ext cx="9000000" cy="45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800">
                <a:solidFill>
                  <a:srgbClr val="FDE047"/>
                </a:solidFill>
              </a:rPr>
              <a:t>Agent autonomy must stay legible to users.</a:t>
            </a:r>
          </a:p>
        </a:txBody>
      </p:sp>
      <p:sp>
        <p:nvSpPr>
          <p:cNvPr id="7" name="Card 7"/>
          <p:cNvSpPr/>
          <p:nvPr/>
        </p:nvSpPr>
        <p:spPr>
          <a:xfrm>
            <a:off x="690000" y="279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930000" y="270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Action allowlist</a:t>
            </a:r>
          </a:p>
        </a:txBody>
      </p:sp>
      <p:sp>
        <p:nvSpPr>
          <p:cNvPr id="9" name="Card 9"/>
          <p:cNvSpPr/>
          <p:nvPr/>
        </p:nvSpPr>
        <p:spPr>
          <a:xfrm>
            <a:off x="690000" y="331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930000" y="322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Spend cap</a:t>
            </a:r>
          </a:p>
        </a:txBody>
      </p:sp>
      <p:sp>
        <p:nvSpPr>
          <p:cNvPr id="11" name="Card 11"/>
          <p:cNvSpPr/>
          <p:nvPr/>
        </p:nvSpPr>
        <p:spPr>
          <a:xfrm>
            <a:off x="690000" y="383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930000" y="374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Session expiry</a:t>
            </a:r>
          </a:p>
        </a:txBody>
      </p:sp>
      <p:sp>
        <p:nvSpPr>
          <p:cNvPr id="13" name="Card 13"/>
          <p:cNvSpPr/>
          <p:nvPr/>
        </p:nvSpPr>
        <p:spPr>
          <a:xfrm>
            <a:off x="690000" y="435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930000" y="426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Revoke button</a:t>
            </a:r>
          </a:p>
        </a:txBody>
      </p:sp>
      <p:sp>
        <p:nvSpPr>
          <p:cNvPr id="15" name="Card 15"/>
          <p:cNvSpPr/>
          <p:nvPr/>
        </p:nvSpPr>
        <p:spPr>
          <a:xfrm>
            <a:off x="690000" y="487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930000" y="478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Read-only default where possible</a:t>
            </a:r>
          </a:p>
        </a:txBody>
      </p:sp>
      <p:sp>
        <p:nvSpPr>
          <p:cNvPr id="17" name="Card 17"/>
          <p:cNvSpPr/>
          <p:nvPr/>
        </p:nvSpPr>
        <p:spPr>
          <a:xfrm>
            <a:off x="690000" y="539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930000" y="530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Visible recent action log</a:t>
            </a:r>
          </a:p>
        </a:txBody>
      </p:sp>
      <p:sp>
        <p:nvSpPr>
          <p:cNvPr id="19" name="Card 19"/>
          <p:cNvSpPr/>
          <p:nvPr/>
        </p:nvSpPr>
        <p:spPr>
          <a:xfrm>
            <a:off x="690000" y="591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930000" y="582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Testnet/mainnet separation</a:t>
            </a:r>
          </a:p>
        </a:txBody>
      </p:sp>
      <p:sp>
        <p:nvSpPr>
          <p:cNvPr id="21" name="Text 21"/>
          <p:cNvSpPr txBox="1"/>
          <p:nvPr/>
        </p:nvSpPr>
        <p:spPr>
          <a:xfrm>
            <a:off x="620000" y="6300000"/>
            <a:ext cx="8500000" cy="24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050">
                <a:solidFill>
                  <a:srgbClr val="71717A"/>
                </a:solidFill>
              </a:rPr>
              <a:t>BNB Smart Money Agent Marketplace · Chuqi Labs</a:t>
            </a:r>
          </a:p>
        </a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080A0F"/>
          </a:solidFill>
          <a:ln w="12700">
            <a:solidFill>
              <a:srgbClr val="080A0F"/>
            </a:solidFill>
          </a:ln>
        </p:spPr>
      </p:sp>
      <p:sp>
        <p:nvSpPr>
          <p:cNvPr id="3" name="Card 3"/>
          <p:cNvSpPr/>
          <p:nvPr/>
        </p:nvSpPr>
        <p:spPr>
          <a:xfrm>
            <a:off x="620000" y="560000"/>
            <a:ext cx="1180000" cy="36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720000" y="630000"/>
            <a:ext cx="1600000" cy="2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500" b="1">
                <a:solidFill>
                  <a:srgbClr val="080A0F"/>
                </a:solidFill>
              </a:rPr>
              <a:t>07</a:t>
            </a:r>
          </a:p>
        </a:txBody>
      </p:sp>
      <p:sp>
        <p:nvSpPr>
          <p:cNvPr id="5" name="Text 5"/>
          <p:cNvSpPr txBox="1"/>
          <p:nvPr/>
        </p:nvSpPr>
        <p:spPr>
          <a:xfrm>
            <a:off x="620000" y="1050000"/>
            <a:ext cx="8300000" cy="100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3900" b="1">
                <a:solidFill>
                  <a:srgbClr val="FFFFFF"/>
                </a:solidFill>
              </a:rPr>
              <a:t>My Agents Dashboard</a:t>
            </a:r>
          </a:p>
        </a:txBody>
      </p:sp>
      <p:sp>
        <p:nvSpPr>
          <p:cNvPr id="6" name="Text 6"/>
          <p:cNvSpPr txBox="1"/>
          <p:nvPr/>
        </p:nvSpPr>
        <p:spPr>
          <a:xfrm>
            <a:off x="620000" y="1920000"/>
            <a:ext cx="9000000" cy="45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800">
                <a:solidFill>
                  <a:srgbClr val="FDE047"/>
                </a:solidFill>
              </a:rPr>
              <a:t>User control continues after the hire click.</a:t>
            </a:r>
          </a:p>
        </a:txBody>
      </p:sp>
      <p:sp>
        <p:nvSpPr>
          <p:cNvPr id="7" name="Card 7"/>
          <p:cNvSpPr/>
          <p:nvPr/>
        </p:nvSpPr>
        <p:spPr>
          <a:xfrm>
            <a:off x="690000" y="279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930000" y="270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Shows active sessions, cap usage, current health, next action, last action, permission scope, and revoke entry.</a:t>
            </a:r>
          </a:p>
        </a:txBody>
      </p:sp>
      <p:sp>
        <p:nvSpPr>
          <p:cNvPr id="9" name="Card 9"/>
          <p:cNvSpPr/>
          <p:nvPr/>
        </p:nvSpPr>
        <p:spPr>
          <a:xfrm>
            <a:off x="690000" y="331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930000" y="322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Closes the loop after hiring.</a:t>
            </a:r>
          </a:p>
        </a:txBody>
      </p:sp>
      <p:sp>
        <p:nvSpPr>
          <p:cNvPr id="11" name="Text 11"/>
          <p:cNvSpPr txBox="1"/>
          <p:nvPr/>
        </p:nvSpPr>
        <p:spPr>
          <a:xfrm>
            <a:off x="620000" y="6300000"/>
            <a:ext cx="8500000" cy="24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050">
                <a:solidFill>
                  <a:srgbClr val="71717A"/>
                </a:solidFill>
              </a:rPr>
              <a:t>BNB Smart Money Agent Marketplace · Chuqi Labs</a:t>
            </a:r>
          </a:p>
        </a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080A0F"/>
          </a:solidFill>
          <a:ln w="12700">
            <a:solidFill>
              <a:srgbClr val="080A0F"/>
            </a:solidFill>
          </a:ln>
        </p:spPr>
      </p:sp>
      <p:sp>
        <p:nvSpPr>
          <p:cNvPr id="3" name="Card 3"/>
          <p:cNvSpPr/>
          <p:nvPr/>
        </p:nvSpPr>
        <p:spPr>
          <a:xfrm>
            <a:off x="620000" y="560000"/>
            <a:ext cx="1180000" cy="36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720000" y="630000"/>
            <a:ext cx="1600000" cy="2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500" b="1">
                <a:solidFill>
                  <a:srgbClr val="080A0F"/>
                </a:solidFill>
              </a:rPr>
              <a:t>08</a:t>
            </a:r>
          </a:p>
        </a:txBody>
      </p:sp>
      <p:sp>
        <p:nvSpPr>
          <p:cNvPr id="5" name="Text 5"/>
          <p:cNvSpPr txBox="1"/>
          <p:nvPr/>
        </p:nvSpPr>
        <p:spPr>
          <a:xfrm>
            <a:off x="620000" y="1050000"/>
            <a:ext cx="8300000" cy="100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3900" b="1">
                <a:solidFill>
                  <a:srgbClr val="FFFFFF"/>
                </a:solidFill>
              </a:rPr>
              <a:t>Agent Advantage Report</a:t>
            </a:r>
          </a:p>
        </a:txBody>
      </p:sp>
      <p:sp>
        <p:nvSpPr>
          <p:cNvPr id="6" name="Text 6"/>
          <p:cNvSpPr txBox="1"/>
          <p:nvPr/>
        </p:nvSpPr>
        <p:spPr>
          <a:xfrm>
            <a:off x="620000" y="1920000"/>
            <a:ext cx="9000000" cy="45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800">
                <a:solidFill>
                  <a:srgbClr val="FDE047"/>
                </a:solidFill>
              </a:rPr>
              <a:t>TermiX-ready agent-vs-manual proof narrative.</a:t>
            </a:r>
          </a:p>
        </a:txBody>
      </p:sp>
      <p:sp>
        <p:nvSpPr>
          <p:cNvPr id="7" name="Card 7"/>
          <p:cNvSpPr/>
          <p:nvPr/>
        </p:nvSpPr>
        <p:spPr>
          <a:xfrm>
            <a:off x="690000" y="279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930000" y="270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Measures agent value versus manual DeFi work.</a:t>
            </a:r>
          </a:p>
        </a:txBody>
      </p:sp>
      <p:sp>
        <p:nvSpPr>
          <p:cNvPr id="9" name="Card 9"/>
          <p:cNvSpPr/>
          <p:nvPr/>
        </p:nvSpPr>
        <p:spPr>
          <a:xfrm>
            <a:off x="690000" y="331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930000" y="322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Dimensions: time saved, monitoring quality, risk enforcement, cost transparency, and execution readiness.</a:t>
            </a:r>
          </a:p>
        </a:txBody>
      </p:sp>
      <p:sp>
        <p:nvSpPr>
          <p:cNvPr id="11" name="Text 11"/>
          <p:cNvSpPr txBox="1"/>
          <p:nvPr/>
        </p:nvSpPr>
        <p:spPr>
          <a:xfrm>
            <a:off x="620000" y="6300000"/>
            <a:ext cx="8500000" cy="24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050">
                <a:solidFill>
                  <a:srgbClr val="71717A"/>
                </a:solidFill>
              </a:rPr>
              <a:t>BNB Smart Money Agent Marketplace · Chuqi Labs</a:t>
            </a:r>
          </a:p>
        </a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080A0F"/>
          </a:solidFill>
          <a:ln w="12700">
            <a:solidFill>
              <a:srgbClr val="080A0F"/>
            </a:solidFill>
          </a:ln>
        </p:spPr>
      </p:sp>
      <p:sp>
        <p:nvSpPr>
          <p:cNvPr id="3" name="Card 3"/>
          <p:cNvSpPr/>
          <p:nvPr/>
        </p:nvSpPr>
        <p:spPr>
          <a:xfrm>
            <a:off x="620000" y="560000"/>
            <a:ext cx="1180000" cy="36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720000" y="630000"/>
            <a:ext cx="1600000" cy="2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500" b="1">
                <a:solidFill>
                  <a:srgbClr val="080A0F"/>
                </a:solidFill>
              </a:rPr>
              <a:t>09</a:t>
            </a:r>
          </a:p>
        </a:txBody>
      </p:sp>
      <p:sp>
        <p:nvSpPr>
          <p:cNvPr id="5" name="Text 5"/>
          <p:cNvSpPr txBox="1"/>
          <p:nvPr/>
        </p:nvSpPr>
        <p:spPr>
          <a:xfrm>
            <a:off x="620000" y="1050000"/>
            <a:ext cx="8300000" cy="100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3900" b="1">
                <a:solidFill>
                  <a:srgbClr val="FFFFFF"/>
                </a:solidFill>
              </a:rPr>
              <a:t>Bounty / Partner Fit</a:t>
            </a:r>
          </a:p>
        </a:txBody>
      </p:sp>
      <p:sp>
        <p:nvSpPr>
          <p:cNvPr id="6" name="Text 6"/>
          <p:cNvSpPr txBox="1"/>
          <p:nvPr/>
        </p:nvSpPr>
        <p:spPr>
          <a:xfrm>
            <a:off x="620000" y="1920000"/>
            <a:ext cx="9000000" cy="45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800">
                <a:solidFill>
                  <a:srgbClr val="FDE047"/>
                </a:solidFill>
              </a:rPr>
              <a:t>Built to map cleanly to hackathon review criteria.</a:t>
            </a:r>
          </a:p>
        </a:txBody>
      </p:sp>
      <p:sp>
        <p:nvSpPr>
          <p:cNvPr id="7" name="Card 7"/>
          <p:cNvSpPr/>
          <p:nvPr/>
        </p:nvSpPr>
        <p:spPr>
          <a:xfrm>
            <a:off x="690000" y="279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930000" y="270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Main Track: BNB Chain Smart Money agent marketplace</a:t>
            </a:r>
          </a:p>
        </a:txBody>
      </p:sp>
      <p:sp>
        <p:nvSpPr>
          <p:cNvPr id="9" name="Card 9"/>
          <p:cNvSpPr/>
          <p:nvPr/>
        </p:nvSpPr>
        <p:spPr>
          <a:xfrm>
            <a:off x="690000" y="331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930000" y="322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TermiX: Agent Advantage Report</a:t>
            </a:r>
          </a:p>
        </a:txBody>
      </p:sp>
      <p:sp>
        <p:nvSpPr>
          <p:cNvPr id="11" name="Card 11"/>
          <p:cNvSpPr/>
          <p:nvPr/>
        </p:nvSpPr>
        <p:spPr>
          <a:xfrm>
            <a:off x="690000" y="383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930000" y="374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PancakeSwap: LP rebalance, grid trading, yield use cases</a:t>
            </a:r>
          </a:p>
        </a:txBody>
      </p:sp>
      <p:sp>
        <p:nvSpPr>
          <p:cNvPr id="13" name="Card 13"/>
          <p:cNvSpPr/>
          <p:nvPr/>
        </p:nvSpPr>
        <p:spPr>
          <a:xfrm>
            <a:off x="690000" y="435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930000" y="426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Altana / session keys: allowlist, cap, expiry, revoke</a:t>
            </a:r>
          </a:p>
        </a:txBody>
      </p:sp>
      <p:sp>
        <p:nvSpPr>
          <p:cNvPr id="15" name="Card 15"/>
          <p:cNvSpPr/>
          <p:nvPr/>
        </p:nvSpPr>
        <p:spPr>
          <a:xfrm>
            <a:off x="690000" y="487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930000" y="478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BNB Agent Studio: profile and skill publishing path</a:t>
            </a:r>
          </a:p>
        </a:txBody>
      </p:sp>
      <p:sp>
        <p:nvSpPr>
          <p:cNvPr id="17" name="Text 17"/>
          <p:cNvSpPr txBox="1"/>
          <p:nvPr/>
        </p:nvSpPr>
        <p:spPr>
          <a:xfrm>
            <a:off x="620000" y="6300000"/>
            <a:ext cx="8500000" cy="24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050">
                <a:solidFill>
                  <a:srgbClr val="71717A"/>
                </a:solidFill>
              </a:rPr>
              <a:t>BNB Smart Money Agent Marketplace · Chuqi Labs</a:t>
            </a:r>
          </a:p>
        </a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080A0F"/>
          </a:solidFill>
          <a:ln w="12700">
            <a:solidFill>
              <a:srgbClr val="080A0F"/>
            </a:solidFill>
          </a:ln>
        </p:spPr>
      </p:sp>
      <p:sp>
        <p:nvSpPr>
          <p:cNvPr id="3" name="Card 3"/>
          <p:cNvSpPr/>
          <p:nvPr/>
        </p:nvSpPr>
        <p:spPr>
          <a:xfrm>
            <a:off x="620000" y="560000"/>
            <a:ext cx="1180000" cy="36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720000" y="630000"/>
            <a:ext cx="1600000" cy="2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500" b="1">
                <a:solidFill>
                  <a:srgbClr val="080A0F"/>
                </a:solidFill>
              </a:rPr>
              <a:t>10</a:t>
            </a:r>
          </a:p>
        </a:txBody>
      </p:sp>
      <p:sp>
        <p:nvSpPr>
          <p:cNvPr id="5" name="Text 5"/>
          <p:cNvSpPr txBox="1"/>
          <p:nvPr/>
        </p:nvSpPr>
        <p:spPr>
          <a:xfrm>
            <a:off x="620000" y="1050000"/>
            <a:ext cx="8300000" cy="100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3900" b="1">
                <a:solidFill>
                  <a:srgbClr val="FFFFFF"/>
                </a:solidFill>
              </a:rPr>
              <a:t>What Is Live</a:t>
            </a:r>
          </a:p>
        </a:txBody>
      </p:sp>
      <p:sp>
        <p:nvSpPr>
          <p:cNvPr id="6" name="Text 6"/>
          <p:cNvSpPr txBox="1"/>
          <p:nvPr/>
        </p:nvSpPr>
        <p:spPr>
          <a:xfrm>
            <a:off x="620000" y="1920000"/>
            <a:ext cx="9000000" cy="45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800">
                <a:solidFill>
                  <a:srgbClr val="FDE047"/>
                </a:solidFill>
              </a:rPr>
              <a:t>Judge-ready MVP is already deployed.</a:t>
            </a:r>
          </a:p>
        </a:txBody>
      </p:sp>
      <p:sp>
        <p:nvSpPr>
          <p:cNvPr id="7" name="Card 7"/>
          <p:cNvSpPr/>
          <p:nvPr/>
        </p:nvSpPr>
        <p:spPr>
          <a:xfrm>
            <a:off x="690000" y="279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930000" y="270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Vercel demo is online</a:t>
            </a:r>
          </a:p>
        </a:txBody>
      </p:sp>
      <p:sp>
        <p:nvSpPr>
          <p:cNvPr id="9" name="Card 9"/>
          <p:cNvSpPr/>
          <p:nvPr/>
        </p:nvSpPr>
        <p:spPr>
          <a:xfrm>
            <a:off x="690000" y="331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930000" y="322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Public GitHub repo is online</a:t>
            </a:r>
          </a:p>
        </a:txBody>
      </p:sp>
      <p:sp>
        <p:nvSpPr>
          <p:cNvPr id="11" name="Card 11"/>
          <p:cNvSpPr/>
          <p:nvPr/>
        </p:nvSpPr>
        <p:spPr>
          <a:xfrm>
            <a:off x="690000" y="383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930000" y="374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/compare, /dashboard, /report, /proof are live</a:t>
            </a:r>
          </a:p>
        </a:txBody>
      </p:sp>
      <p:sp>
        <p:nvSpPr>
          <p:cNvPr id="13" name="Card 13"/>
          <p:cNvSpPr/>
          <p:nvPr/>
        </p:nvSpPr>
        <p:spPr>
          <a:xfrm>
            <a:off x="690000" y="435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930000" y="426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Agent profiles and hire flows are implemented</a:t>
            </a:r>
          </a:p>
        </a:txBody>
      </p:sp>
      <p:sp>
        <p:nvSpPr>
          <p:cNvPr id="15" name="Card 15"/>
          <p:cNvSpPr/>
          <p:nvPr/>
        </p:nvSpPr>
        <p:spPr>
          <a:xfrm>
            <a:off x="690000" y="487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930000" y="478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Lint/build pass locally</a:t>
            </a:r>
          </a:p>
        </a:txBody>
      </p:sp>
      <p:sp>
        <p:nvSpPr>
          <p:cNvPr id="17" name="Text 17"/>
          <p:cNvSpPr txBox="1"/>
          <p:nvPr/>
        </p:nvSpPr>
        <p:spPr>
          <a:xfrm>
            <a:off x="620000" y="6300000"/>
            <a:ext cx="8500000" cy="24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050">
                <a:solidFill>
                  <a:srgbClr val="71717A"/>
                </a:solidFill>
              </a:rPr>
              <a:t>BNB Smart Money Agent Marketplace · Chuqi Labs</a:t>
            </a:r>
          </a:p>
        </a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080A0F"/>
          </a:solidFill>
          <a:ln w="12700">
            <a:solidFill>
              <a:srgbClr val="080A0F"/>
            </a:solidFill>
          </a:ln>
        </p:spPr>
      </p:sp>
      <p:sp>
        <p:nvSpPr>
          <p:cNvPr id="3" name="Card 3"/>
          <p:cNvSpPr/>
          <p:nvPr/>
        </p:nvSpPr>
        <p:spPr>
          <a:xfrm>
            <a:off x="620000" y="560000"/>
            <a:ext cx="1180000" cy="36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720000" y="630000"/>
            <a:ext cx="1600000" cy="2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500" b="1">
                <a:solidFill>
                  <a:srgbClr val="080A0F"/>
                </a:solidFill>
              </a:rPr>
              <a:t>11</a:t>
            </a:r>
          </a:p>
        </a:txBody>
      </p:sp>
      <p:sp>
        <p:nvSpPr>
          <p:cNvPr id="5" name="Text 5"/>
          <p:cNvSpPr txBox="1"/>
          <p:nvPr/>
        </p:nvSpPr>
        <p:spPr>
          <a:xfrm>
            <a:off x="620000" y="1050000"/>
            <a:ext cx="8300000" cy="100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3900" b="1">
                <a:solidFill>
                  <a:srgbClr val="FFFFFF"/>
                </a:solidFill>
              </a:rPr>
              <a:t>Next Proof Sprint</a:t>
            </a:r>
          </a:p>
        </a:txBody>
      </p:sp>
      <p:sp>
        <p:nvSpPr>
          <p:cNvPr id="6" name="Text 6"/>
          <p:cNvSpPr txBox="1"/>
          <p:nvPr/>
        </p:nvSpPr>
        <p:spPr>
          <a:xfrm>
            <a:off x="620000" y="1920000"/>
            <a:ext cx="9000000" cy="45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800">
                <a:solidFill>
                  <a:srgbClr val="FDE047"/>
                </a:solidFill>
              </a:rPr>
              <a:t>Honest roadmap from MVP to on-chain proof.</a:t>
            </a:r>
          </a:p>
        </a:txBody>
      </p:sp>
      <p:sp>
        <p:nvSpPr>
          <p:cNvPr id="7" name="Card 7"/>
          <p:cNvSpPr/>
          <p:nvPr/>
        </p:nvSpPr>
        <p:spPr>
          <a:xfrm>
            <a:off x="690000" y="279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930000" y="270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Add BSC testnet wallet used only for proof</a:t>
            </a:r>
          </a:p>
        </a:txBody>
      </p:sp>
      <p:sp>
        <p:nvSpPr>
          <p:cNvPr id="9" name="Card 9"/>
          <p:cNvSpPr/>
          <p:nvPr/>
        </p:nvSpPr>
        <p:spPr>
          <a:xfrm>
            <a:off x="690000" y="331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930000" y="322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Register/mock ERC-8004-style agent identity</a:t>
            </a:r>
          </a:p>
        </a:txBody>
      </p:sp>
      <p:sp>
        <p:nvSpPr>
          <p:cNvPr id="11" name="Card 11"/>
          <p:cNvSpPr/>
          <p:nvPr/>
        </p:nvSpPr>
        <p:spPr>
          <a:xfrm>
            <a:off x="690000" y="383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930000" y="374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Attach testnet tx hashes for session create, hire, revoke, and PancakeSwap-style proof</a:t>
            </a:r>
          </a:p>
        </a:txBody>
      </p:sp>
      <p:sp>
        <p:nvSpPr>
          <p:cNvPr id="13" name="Card 13"/>
          <p:cNvSpPr/>
          <p:nvPr/>
        </p:nvSpPr>
        <p:spPr>
          <a:xfrm>
            <a:off x="690000" y="435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930000" y="426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Run BNB Agent Studio CLI and commit artifacts</a:t>
            </a:r>
          </a:p>
        </a:txBody>
      </p:sp>
      <p:sp>
        <p:nvSpPr>
          <p:cNvPr id="15" name="Text 15"/>
          <p:cNvSpPr txBox="1"/>
          <p:nvPr/>
        </p:nvSpPr>
        <p:spPr>
          <a:xfrm>
            <a:off x="620000" y="6300000"/>
            <a:ext cx="8500000" cy="24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050">
                <a:solidFill>
                  <a:srgbClr val="71717A"/>
                </a:solidFill>
              </a:rPr>
              <a:t>BNB Smart Money Agent Marketplace · Chuqi Labs</a:t>
            </a:r>
          </a:p>
        </a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080A0F"/>
          </a:solidFill>
          <a:ln w="12700">
            <a:solidFill>
              <a:srgbClr val="080A0F"/>
            </a:solidFill>
          </a:ln>
        </p:spPr>
      </p:sp>
      <p:sp>
        <p:nvSpPr>
          <p:cNvPr id="3" name="Card 3"/>
          <p:cNvSpPr/>
          <p:nvPr/>
        </p:nvSpPr>
        <p:spPr>
          <a:xfrm>
            <a:off x="620000" y="560000"/>
            <a:ext cx="1180000" cy="36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720000" y="630000"/>
            <a:ext cx="1600000" cy="2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500" b="1">
                <a:solidFill>
                  <a:srgbClr val="080A0F"/>
                </a:solidFill>
              </a:rPr>
              <a:t>12</a:t>
            </a:r>
          </a:p>
        </a:txBody>
      </p:sp>
      <p:sp>
        <p:nvSpPr>
          <p:cNvPr id="5" name="Text 5"/>
          <p:cNvSpPr txBox="1"/>
          <p:nvPr/>
        </p:nvSpPr>
        <p:spPr>
          <a:xfrm>
            <a:off x="620000" y="1050000"/>
            <a:ext cx="8300000" cy="100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3900" b="1">
                <a:solidFill>
                  <a:srgbClr val="FFFFFF"/>
                </a:solidFill>
              </a:rPr>
              <a:t>Closing</a:t>
            </a:r>
          </a:p>
        </a:txBody>
      </p:sp>
      <p:sp>
        <p:nvSpPr>
          <p:cNvPr id="6" name="Text 6"/>
          <p:cNvSpPr txBox="1"/>
          <p:nvPr/>
        </p:nvSpPr>
        <p:spPr>
          <a:xfrm>
            <a:off x="620000" y="1920000"/>
            <a:ext cx="9000000" cy="45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800">
                <a:solidFill>
                  <a:srgbClr val="FDE047"/>
                </a:solidFill>
              </a:rPr>
              <a:t>The canonical marketplace for BNB Smart Money agents.</a:t>
            </a:r>
          </a:p>
        </a:txBody>
      </p:sp>
      <p:sp>
        <p:nvSpPr>
          <p:cNvPr id="7" name="Card 7"/>
          <p:cNvSpPr/>
          <p:nvPr/>
        </p:nvSpPr>
        <p:spPr>
          <a:xfrm>
            <a:off x="690000" y="279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930000" y="270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BNB Chain does not just need more agents.</a:t>
            </a:r>
          </a:p>
        </a:txBody>
      </p:sp>
      <p:sp>
        <p:nvSpPr>
          <p:cNvPr id="9" name="Card 9"/>
          <p:cNvSpPr/>
          <p:nvPr/>
        </p:nvSpPr>
        <p:spPr>
          <a:xfrm>
            <a:off x="690000" y="331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930000" y="322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It needs the trusted front door for financial agents.</a:t>
            </a:r>
          </a:p>
        </a:txBody>
      </p:sp>
      <p:sp>
        <p:nvSpPr>
          <p:cNvPr id="11" name="Card 11"/>
          <p:cNvSpPr/>
          <p:nvPr/>
        </p:nvSpPr>
        <p:spPr>
          <a:xfrm>
            <a:off x="690000" y="3830000"/>
            <a:ext cx="120000" cy="120000"/>
          </a:xfrm>
          <a:prstGeom prst="roundRect">
            <a:avLst/>
          </a:prstGeom>
          <a:solidFill>
            <a:srgbClr val="FDE047"/>
          </a:solidFill>
          <a:ln w="12700">
            <a:solidFill>
              <a:srgbClr val="FDE047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930000" y="3740000"/>
            <a:ext cx="9700000" cy="42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650">
                <a:solidFill>
                  <a:srgbClr val="D4D4D8"/>
                </a:solidFill>
              </a:rPr>
              <a:t>This marketplace makes agents discoverable, comparable, hireable, monitorable, and revocable.</a:t>
            </a:r>
          </a:p>
        </a:txBody>
      </p:sp>
      <p:sp>
        <p:nvSpPr>
          <p:cNvPr id="13" name="Text 13"/>
          <p:cNvSpPr txBox="1"/>
          <p:nvPr/>
        </p:nvSpPr>
        <p:spPr>
          <a:xfrm>
            <a:off x="620000" y="6300000"/>
            <a:ext cx="8500000" cy="240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r>
              <a:rPr lang="en-US" sz="1050">
                <a:solidFill>
                  <a:srgbClr val="71717A"/>
                </a:solidFill>
              </a:rPr>
              <a:t>BNB Smart Money Agent Marketplace · Chuqi Labs</a:t>
            </a:r>
          </a:p>
        </a:txBody>
      </p:sp>
    </p:spTree>
  </p:cSld>
  <p:clrMapOvr>
    <a:masterClrMapping/>
  </p:clrMapOvr>
</p:sld>
</file>

<file path=ppt/theme/theme1.xml><?xml version="1.0" encoding="utf-8"?>
<a:theme xmlns:a="http://schemas.openxmlformats.org/drawingml/2006/main" name="BNB Dark">
  <a:themeElements>
    <a:clrScheme name="BNB">
      <a:dk1>
        <a:srgbClr val="080A0F"/>
      </a:dk1>
      <a:lt1>
        <a:srgbClr val="FFFFFF"/>
      </a:lt1>
      <a:dk2>
        <a:srgbClr val="111827"/>
      </a:dk2>
      <a:lt2>
        <a:srgbClr val="FDE047"/>
      </a:lt2>
      <a:accent1>
        <a:srgbClr val="FDE047"/>
      </a:accent1>
      <a:accent2>
        <a:srgbClr val="22C55E"/>
      </a:accent2>
      <a:accent3>
        <a:srgbClr val="38BDF8"/>
      </a:accent3>
      <a:accent4>
        <a:srgbClr val="A78BFA"/>
      </a:accent4>
      <a:accent5>
        <a:srgbClr val="FB7185"/>
      </a:accent5>
      <a:accent6>
        <a:srgbClr val="F97316"/>
      </a:accent6>
      <a:hlink>
        <a:srgbClr val="FDE047"/>
      </a:hlink>
      <a:folHlink>
        <a:srgbClr val="FDE047"/>
      </a:folHlink>
    </a:clrScheme>
    <a:fontScheme name="Office">
      <a:majorFont>
        <a:latin typeface="Arial"/>
      </a:majorFont>
      <a:minorFont>
        <a:latin typeface="Arial"/>
      </a:minorFont>
    </a:fontScheme>
    <a:fmtScheme name="default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Hermes Agent</Application>
  <PresentationFormat>On-screen Show (16:9)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BNB Smart Money Agent Marketplace Pitch Deck</dc:title>
  <dc:creator>Chuqi Labs</dc:creator>
  <cp:lastModifiedBy>Hermes Agent</cp:lastModifiedBy>
</cp:coreProperties>
</file>